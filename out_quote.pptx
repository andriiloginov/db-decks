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2950" cy="800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9650"/>
            <a:ext cx="11715750" cy="77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9650" y="508000"/>
            <a:ext cx="577850" cy="2878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839450" y="63500"/>
            <a:ext cx="128905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6450" y="127000"/>
            <a:ext cx="12700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76000" y="635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0">
                <a:solidFill>
                  <a:srgbClr val="494A4A"/>
                </a:solidFill>
                <a:latin typeface="DM Mono Medium"/>
              </a:rPr>
              <a:t>CONFIDENTIAL</a:t>
            </a:r>
          </a:p>
        </p:txBody>
      </p:sp>
      <p:sp>
        <p:nvSpPr>
          <p:cNvPr id="8" name="Oval 7"/>
          <p:cNvSpPr/>
          <p:nvPr/>
        </p:nvSpPr>
        <p:spPr>
          <a:xfrm>
            <a:off x="11576050" y="6197600"/>
            <a:ext cx="69850" cy="69850"/>
          </a:xfrm>
          <a:prstGeom prst="ellipse">
            <a:avLst/>
          </a:prstGeom>
          <a:solidFill>
            <a:srgbClr val="B1B1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31600" y="6280150"/>
            <a:ext cx="69850" cy="69850"/>
          </a:xfrm>
          <a:prstGeom prst="ellipse">
            <a:avLst/>
          </a:prstGeom>
          <a:solidFill>
            <a:srgbClr val="3737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4150" y="6280150"/>
            <a:ext cx="69850" cy="69850"/>
          </a:xfrm>
          <a:prstGeom prst="ellipse">
            <a:avLst/>
          </a:prstGeom>
          <a:solidFill>
            <a:srgbClr val="3737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381000"/>
            <a:ext cx="1346200" cy="307340"/>
          </a:xfrm>
          <a:prstGeom prst="rect">
            <a:avLst/>
          </a:prstGeom>
          <a:solidFill>
            <a:srgbClr val="FE4C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299" y="381000"/>
            <a:ext cx="1117600" cy="307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spc="50">
                <a:solidFill>
                  <a:srgbClr val="FFFFFF"/>
                </a:solidFill>
                <a:latin typeface="DM Mono Medium"/>
              </a:rPr>
              <a:t>TESTIMONIAL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092200"/>
            <a:ext cx="9525000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242424"/>
                </a:solidFill>
                <a:latin typeface="FK Grotesk"/>
              </a:rPr>
              <a:t>What </a:t>
            </a:r>
            <a:r>
              <a:rPr sz="3000" b="1">
                <a:solidFill>
                  <a:srgbClr val="FE4C02"/>
                </a:solidFill>
                <a:latin typeface="FK Grotesk"/>
              </a:rPr>
              <a:t>founders</a:t>
            </a:r>
            <a:r>
              <a:rPr sz="3000" b="1">
                <a:solidFill>
                  <a:srgbClr val="242424"/>
                </a:solidFill>
                <a:latin typeface="FK Grotesk"/>
              </a:rPr>
              <a:t> say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753677"/>
            <a:ext cx="11430000" cy="2303145"/>
          </a:xfrm>
          <a:prstGeom prst="rect">
            <a:avLst/>
          </a:prstGeom>
          <a:solidFill>
            <a:srgbClr val="FE4C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58477"/>
            <a:ext cx="51435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3496627"/>
            <a:ext cx="5343525" cy="2476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F2F2F2"/>
                </a:solidFill>
                <a:latin typeface="DM Mono Medium"/>
              </a:rPr>
              <a:t>FOUNDER, BATCH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3058477"/>
            <a:ext cx="5343525" cy="13373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32"/>
              </a:lnSpc>
            </a:pPr>
            <a:r>
              <a:rPr sz="1950" b="1">
                <a:solidFill>
                  <a:srgbClr val="FFFFFF"/>
                </a:solidFill>
                <a:latin typeface="FK Grotesk"/>
              </a:rPr>
              <a:t>Defence Builder got us in front of </a:t>
            </a:r>
            <a:r>
              <a:rPr sz="1950" b="1">
                <a:solidFill>
                  <a:srgbClr val="242424"/>
                </a:solidFill>
                <a:latin typeface="FK Grotesk"/>
              </a:rPr>
              <a:t>three</a:t>
            </a:r>
            <a:r>
              <a:rPr sz="1950" b="1">
                <a:solidFill>
                  <a:srgbClr val="FFFFFF"/>
                </a:solidFill>
                <a:latin typeface="FK Grotesk"/>
              </a:rPr>
              <a:t> procurement officers in a week — that never happens on our 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2675" y="4529137"/>
            <a:ext cx="5343525" cy="222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FFD9C4"/>
                </a:solidFill>
                <a:latin typeface="FK Grotesk"/>
              </a:rPr>
              <a:t>— Founder, Batch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2950" cy="800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9650"/>
            <a:ext cx="11715750" cy="77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9650" y="508000"/>
            <a:ext cx="577850" cy="2878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839450" y="63500"/>
            <a:ext cx="128905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6450" y="127000"/>
            <a:ext cx="12700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76000" y="635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0">
                <a:solidFill>
                  <a:srgbClr val="494A4A"/>
                </a:solidFill>
                <a:latin typeface="DM Mono Medium"/>
              </a:rPr>
              <a:t>CONFIDENTIAL</a:t>
            </a:r>
          </a:p>
        </p:txBody>
      </p:sp>
      <p:sp>
        <p:nvSpPr>
          <p:cNvPr id="8" name="Oval 7"/>
          <p:cNvSpPr/>
          <p:nvPr/>
        </p:nvSpPr>
        <p:spPr>
          <a:xfrm>
            <a:off x="11576050" y="6197600"/>
            <a:ext cx="69850" cy="69850"/>
          </a:xfrm>
          <a:prstGeom prst="ellipse">
            <a:avLst/>
          </a:prstGeom>
          <a:solidFill>
            <a:srgbClr val="B1B1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31600" y="6280150"/>
            <a:ext cx="69850" cy="69850"/>
          </a:xfrm>
          <a:prstGeom prst="ellipse">
            <a:avLst/>
          </a:prstGeom>
          <a:solidFill>
            <a:srgbClr val="3737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4150" y="6280150"/>
            <a:ext cx="69850" cy="69850"/>
          </a:xfrm>
          <a:prstGeom prst="ellipse">
            <a:avLst/>
          </a:prstGeom>
          <a:solidFill>
            <a:srgbClr val="3737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381000"/>
            <a:ext cx="1447800" cy="307340"/>
          </a:xfrm>
          <a:prstGeom prst="rect">
            <a:avLst/>
          </a:prstGeom>
          <a:solidFill>
            <a:srgbClr val="FE4C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299" y="381000"/>
            <a:ext cx="1219200" cy="3073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spc="50">
                <a:solidFill>
                  <a:srgbClr val="FFFFFF"/>
                </a:solidFill>
                <a:latin typeface="DM Mono Medium"/>
              </a:rPr>
              <a:t>TESTIMONIALS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092200"/>
            <a:ext cx="9525000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242424"/>
                </a:solidFill>
                <a:latin typeface="FK Grotesk"/>
              </a:rPr>
              <a:t>More </a:t>
            </a:r>
            <a:r>
              <a:rPr sz="3000" b="1">
                <a:solidFill>
                  <a:srgbClr val="FE4C02"/>
                </a:solidFill>
                <a:latin typeface="FK Grotesk"/>
              </a:rPr>
              <a:t>voices</a:t>
            </a:r>
            <a:r>
              <a:rPr sz="3000" b="1">
                <a:solidFill>
                  <a:srgbClr val="242424"/>
                </a:solidFill>
                <a:latin typeface="FK Grotesk"/>
              </a:rPr>
              <a:t> from the ecosystem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1905000"/>
            <a:ext cx="3640666" cy="1535430"/>
          </a:xfrm>
          <a:prstGeom prst="rect">
            <a:avLst/>
          </a:prstGeom>
          <a:solidFill>
            <a:srgbClr val="FE4C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" y="2108200"/>
            <a:ext cx="3429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4200" y="2400300"/>
            <a:ext cx="1572683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2F2F2"/>
                </a:solidFill>
                <a:latin typeface="DM Mono Medium"/>
              </a:rPr>
              <a:t>INVESTOR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5783" y="2108200"/>
            <a:ext cx="1572683" cy="891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>
                <a:solidFill>
                  <a:srgbClr val="FFFFFF"/>
                </a:solidFill>
                <a:latin typeface="FK Grotesk"/>
              </a:rPr>
              <a:t>The most active defence-tech ecosystem we track.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5783" y="3088640"/>
            <a:ext cx="1572683" cy="148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>
                <a:solidFill>
                  <a:srgbClr val="FFD9C4"/>
                </a:solidFill>
                <a:latin typeface="FK Grotesk"/>
              </a:rPr>
              <a:t>— Partner, VC fund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5666" y="1905000"/>
            <a:ext cx="3640666" cy="1535430"/>
          </a:xfrm>
          <a:prstGeom prst="rect">
            <a:avLst/>
          </a:prstGeom>
          <a:solidFill>
            <a:srgbClr val="FE4C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866" y="2108200"/>
            <a:ext cx="3429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78866" y="2400300"/>
            <a:ext cx="1572683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2F2F2"/>
                </a:solidFill>
                <a:latin typeface="DM Mono Medium"/>
              </a:rPr>
              <a:t>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0450" y="2108200"/>
            <a:ext cx="1572683" cy="891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>
                <a:solidFill>
                  <a:srgbClr val="FFFFFF"/>
                </a:solidFill>
                <a:latin typeface="FK Grotesk"/>
              </a:rPr>
              <a:t>A rare bridge between startups and procurement.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0450" y="3088640"/>
            <a:ext cx="1572683" cy="148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>
                <a:solidFill>
                  <a:srgbClr val="FFD9C4"/>
                </a:solidFill>
                <a:latin typeface="FK Grotesk"/>
              </a:rPr>
              <a:t>— Programme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0333" y="1905000"/>
            <a:ext cx="3640666" cy="1535430"/>
          </a:xfrm>
          <a:prstGeom prst="rect">
            <a:avLst/>
          </a:prstGeom>
          <a:solidFill>
            <a:srgbClr val="FE4C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3533" y="2108200"/>
            <a:ext cx="3429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73533" y="2400300"/>
            <a:ext cx="1572683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2F2F2"/>
                </a:solidFill>
                <a:latin typeface="DM Mono Medium"/>
              </a:rPr>
              <a:t>ALUMNI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5116" y="2108200"/>
            <a:ext cx="1572683" cy="891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>
                <a:solidFill>
                  <a:srgbClr val="FFFFFF"/>
                </a:solidFill>
                <a:latin typeface="FK Grotesk"/>
              </a:rPr>
              <a:t>We closed our seed round two months after Batch 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5116" y="3088640"/>
            <a:ext cx="1572683" cy="148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>
                <a:solidFill>
                  <a:srgbClr val="FFD9C4"/>
                </a:solidFill>
                <a:latin typeface="FK Grotesk"/>
              </a:rPr>
              <a:t>— Alumni founder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Quote block QA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